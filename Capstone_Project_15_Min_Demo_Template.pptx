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165C-6148-4912-9C46-75FE6B9EA87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E88F-770C-4B59-A1C0-CD1D8058F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86C9-2BBA-55D0-BD4B-F8B71E2EC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E6BA-4AE7-822A-85CC-92BCCD9D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BC8C-59D5-7186-B66E-4FCA965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9DD2-136E-B005-965D-33285448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715-6A40-FAAC-BD2C-F7BE86F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6724B-C345-9FA0-667D-03555D2E5C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838B-2600-6588-AFF2-968994D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390-C3B8-3F09-F40D-85696C0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849249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22D00-115B-264C-C896-345894A04A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B671F-CF2E-7C44-EADA-4E56CCF3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295791"/>
            <a:ext cx="3348990" cy="10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85C2F-C4CC-B3E8-DC0D-F4312B48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5951"/>
            <a:ext cx="133350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8431-87F8-377B-002F-80082207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87CB-EC0D-AC03-913E-540103AB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77A5-783A-D063-67E6-8CB761E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8A05-536D-01B1-B02E-017A192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E06D-95DC-C9AA-9F94-50F934BD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BEB-1201-DD36-5A62-6C8322C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C01D-6BFB-5359-E1CB-F8393053E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94D6-52BE-8815-B5BE-B9B64269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C93A-F94E-2DCF-1576-F9D87AD0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2396-B2FC-F8D4-BB47-05AFB0A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2123-4901-0C6F-544E-F6AA683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A608-63E2-19B2-AE4D-57CF441C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64A4-C3C4-ACA3-1D1F-D208F767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CB0F-31D6-4E31-9EF4-FAEE2ECF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E2D7D-E306-0374-7D3C-62E8D219A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EC196-EF39-B64C-5B82-DC01BD71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B66E0-B7D7-BF74-CC5D-317C556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2566B-2AE2-3440-B5E5-557FA33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1E798-0C77-EC9C-37B4-4B7560BD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898-CA2D-FC1D-F85A-F4B61498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C15-F701-899A-1878-CE763E82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D74A-4601-E794-8FA7-BB76057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FF0C-0D43-1690-F1D9-BD21A78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75516-D291-7DF6-999B-D9562668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BCA8A-5542-72D5-4D01-7901049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85FB-F8C4-60A1-F7B2-63C03C82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4FAF-C8EA-6C50-C03C-6BE244F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7747-0EAE-BF6C-0F71-1239CCED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1633-599E-0C57-85A4-85AF2FB3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1136-1C3C-B33A-D05E-2A6D49A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106D-088F-C9E1-A0D5-22F8B83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12DD-DCE1-05C2-B9F7-0105630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2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F12A-BEE5-D30E-A3A1-942D5B5C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D5563-6459-67DE-4D69-30053A9D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9A17-FD7C-16CA-4EFC-03BD868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D420-EC2E-8ABC-B2F2-CA9F4972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5612-CD5C-0B26-0604-34950D11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A36B-AF9A-508A-1438-B7C8B159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38F9-C26A-A887-8868-A89E5C7C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23C57-B3EA-971D-87BC-DF8B8D3C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FFD4-A931-751C-7707-99B41CC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FB5B-4974-F079-60B2-005270B2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A4EC-E107-73DE-0D25-2B1868B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3CB0-1DDE-C006-45DD-C4E5E494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5BB5-31FC-01A3-455F-2FCDAC10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DB4B-80C3-F444-BB89-BAB7C213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C3CA-91F1-49B3-33BE-B13C2112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99E0A-B830-F842-ADDC-5FD15C9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38481-3E3D-E956-CD00-8CB79168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A1C8-6503-E09A-694B-6C359C0B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4468-691A-BB42-58A0-82A6AA10D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E529-10D3-2454-82D4-495C91F7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2B87-66F7-C8F0-A8BC-5A8446D4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806C-DE76-F844-DADC-8CEF0CA4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B0453-4AD2-5D01-DB88-16376289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5" y="1743795"/>
            <a:ext cx="3290488" cy="1254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D43B1-8B94-26CD-2746-B4F4D815FE52}"/>
              </a:ext>
            </a:extLst>
          </p:cNvPr>
          <p:cNvSpPr/>
          <p:nvPr/>
        </p:nvSpPr>
        <p:spPr>
          <a:xfrm>
            <a:off x="4415831" y="1743795"/>
            <a:ext cx="45639" cy="1388569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B774B-E0DA-8EFA-E658-16AE37904B08}"/>
              </a:ext>
            </a:extLst>
          </p:cNvPr>
          <p:cNvSpPr txBox="1">
            <a:spLocks/>
          </p:cNvSpPr>
          <p:nvPr/>
        </p:nvSpPr>
        <p:spPr>
          <a:xfrm>
            <a:off x="1500000" y="3230000"/>
            <a:ext cx="6144000" cy="70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pPr algn="ctr"/>
            <a:r>
              <a:rPr lang="en-US" sz="2800" dirty="0">
                <a:solidFill>
                  <a:srgbClr val="9700FF"/>
                </a:solidFill>
              </a:rPr>
              <a:t>SmartCloud Secrets Manager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</a:rPr>
              <a:t>with AI-Based Risk Analysis and Auto-Rotation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150D07-4CCE-759D-C6B1-03B0AE969E9D}"/>
              </a:ext>
            </a:extLst>
          </p:cNvPr>
          <p:cNvSpPr txBox="1">
            <a:spLocks/>
          </p:cNvSpPr>
          <p:nvPr/>
        </p:nvSpPr>
        <p:spPr>
          <a:xfrm>
            <a:off x="4695825" y="1775939"/>
            <a:ext cx="3520300" cy="1400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933FF"/>
                </a:solidFill>
                <a:latin typeface="Aptos" panose="020B0004020202020204" pitchFamily="34" charset="0"/>
              </a:rPr>
              <a:t>Presented by: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prstClr val="black"/>
                </a:solidFill>
                <a:latin typeface="Aptos SemiBold" panose="020B0004020202020204" pitchFamily="34" charset="0"/>
              </a:rPr>
              <a:t>Nymish Kashivishwanath — 2023EBCS686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prstClr val="black"/>
                </a:solidFill>
                <a:latin typeface="Aptos SemiBold" panose="020B0004020202020204" pitchFamily="34" charset="0"/>
              </a:rPr>
              <a:t>Shrinibas Mahanta — 2023EBCS695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prstClr val="black"/>
                </a:solidFill>
                <a:latin typeface="Aptos SemiBold" panose="020B0004020202020204" pitchFamily="34" charset="0"/>
              </a:rPr>
              <a:t>Prem Bhavesh Shah — 2023EBCS615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prstClr val="black"/>
                </a:solidFill>
                <a:latin typeface="Aptos SemiBold" panose="020B0004020202020204" pitchFamily="34" charset="0"/>
              </a:rPr>
              <a:t>Abhinav Nagar — 2023EBCS623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2E371-EB80-F24B-2B7E-C0C2DAFD6A88}"/>
              </a:ext>
            </a:extLst>
          </p:cNvPr>
          <p:cNvSpPr txBox="1">
            <a:spLocks/>
          </p:cNvSpPr>
          <p:nvPr/>
        </p:nvSpPr>
        <p:spPr>
          <a:xfrm>
            <a:off x="1500000" y="4821080"/>
            <a:ext cx="61440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latin typeface="Aptos" panose="020B0004020202020204" pitchFamily="34" charset="0"/>
              </a:rPr>
              <a:t>Under the guidance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Prof. Raj Kumar K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B134D2-B9AA-E395-01BF-48B58E2DB43F}"/>
              </a:ext>
            </a:extLst>
          </p:cNvPr>
          <p:cNvSpPr txBox="1">
            <a:spLocks/>
          </p:cNvSpPr>
          <p:nvPr/>
        </p:nvSpPr>
        <p:spPr>
          <a:xfrm>
            <a:off x="1500000" y="4000000"/>
            <a:ext cx="6144000" cy="35389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black"/>
                </a:solidFill>
                <a:latin typeface="Aptos SemiBold" panose="020B0004020202020204" pitchFamily="34" charset="0"/>
              </a:rPr>
              <a:t>BSc Computer Science — Study Project · Group 116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Background</a:t>
            </a:r>
          </a:p>
          <a:p>
            <a:pPr lvl="0"/>
            <a:r>
              <a:rPr lang="en-US" sz="1400" b="0" dirty="0"/>
              <a:t>Cloud applications run on secrets — API keys, database passwords, tokens — spread across code, CI variables and </a:t>
            </a:r>
            <a:r>
              <a:rPr lang="en-US" sz="1288" b="0" dirty="0">
                <a:latin typeface="Consolas"/>
                <a:cs typeface="Consolas"/>
              </a:rPr>
              <a:t>.env</a:t>
            </a:r>
            <a:r>
              <a:rPr lang="en-US" sz="1400" b="0" dirty="0"/>
              <a:t> files.</a:t>
            </a:r>
          </a:p>
          <a:p>
            <a:pPr lvl="0"/>
            <a:r>
              <a:rPr lang="en-US" sz="1400" b="0" dirty="0"/>
              <a:t>A leaked credential gives an attacker the same access as the service that owns it.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Gap in existing systems</a:t>
            </a:r>
          </a:p>
          <a:p>
            <a:pPr lvl="0"/>
            <a:r>
              <a:rPr lang="en-US" sz="1400" b="0" dirty="0"/>
              <a:t>Managers store and serve secrets, but never judge </a:t>
            </a:r>
            <a:r>
              <a:rPr lang="en-US" sz="1400" b="1" dirty="0"/>
              <a:t>how</a:t>
            </a:r>
            <a:r>
              <a:rPr lang="en-US" sz="1400" b="0" dirty="0"/>
              <a:t> a secret is being used — there is no per-secret risk signal.</a:t>
            </a:r>
          </a:p>
          <a:p>
            <a:pPr lvl="0"/>
            <a:r>
              <a:rPr lang="en-US" sz="1400" b="0" dirty="0"/>
              <a:t>Rotation is manual or provider-specific, and teams postpone it because it can break live consumers.</a:t>
            </a:r>
          </a:p>
          <a:p>
            <a:pPr lvl="0"/>
            <a:r>
              <a:rPr lang="en-US" sz="1400" b="0" dirty="0"/>
              <a:t>Each cloud has its own vault, console and SDK — no single pane across AWS, Azure and GCP.</a:t>
            </a:r>
          </a:p>
          <a:p>
            <a:pPr lvl="0"/>
            <a:r>
              <a:rPr lang="en-US" sz="1400" b="0" dirty="0"/>
              <a:t>Access evidence sits in separate logging tools, so misuse is detected late.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Why it matters</a:t>
            </a:r>
          </a:p>
          <a:p>
            <a:pPr lvl="0"/>
            <a:r>
              <a:rPr lang="en-US" sz="1400" b="0" dirty="0"/>
              <a:t>Leaked credentials remain a leading breach vector; cutting exposure time is cheaper than incident response.</a:t>
            </a:r>
          </a:p>
          <a:p>
            <a:pPr lvl="0"/>
            <a:r>
              <a:rPr lang="en-US" sz="1400" b="0" dirty="0"/>
              <a:t>Manual secret handling costs developer and administrator hours that a system should absorb.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Objectives</a:t>
            </a:r>
          </a:p>
          <a:p>
            <a:pPr lvl="0"/>
            <a:r>
              <a:rPr lang="en-US" sz="1400" b="1" dirty="0"/>
              <a:t>O1</a:t>
            </a:r>
            <a:r>
              <a:rPr lang="en-US" sz="1400" b="0" dirty="0"/>
              <a:t> — Store secrets centrally with strong encryption, role-based access and full audit trails.</a:t>
            </a:r>
          </a:p>
          <a:p>
            <a:pPr lvl="0"/>
            <a:r>
              <a:rPr lang="en-US" sz="1400" b="1" dirty="0"/>
              <a:t>O2</a:t>
            </a:r>
            <a:r>
              <a:rPr lang="en-US" sz="1400" b="0" dirty="0"/>
              <a:t> — Analyse access patterns into an explainable Low / Medium / High risk score per secret.</a:t>
            </a:r>
          </a:p>
          <a:p>
            <a:pPr lvl="0"/>
            <a:r>
              <a:rPr lang="en-US" sz="1400" b="1" dirty="0"/>
              <a:t>O3</a:t>
            </a:r>
            <a:r>
              <a:rPr lang="en-US" sz="1400" b="0" dirty="0"/>
              <a:t> — Rotate credentials automatically, on a schedule or when risk crosses a threshold.</a:t>
            </a:r>
          </a:p>
          <a:p>
            <a:pPr lvl="0"/>
            <a:r>
              <a:rPr lang="en-US" sz="1400" b="1" dirty="0"/>
              <a:t>O4</a:t>
            </a:r>
            <a:r>
              <a:rPr lang="en-US" sz="1400" b="0" dirty="0"/>
              <a:t> — Manage secrets across AWS, Azure and GCP through one unified provider interface.</a:t>
            </a:r>
          </a:p>
          <a:p>
            <a:pPr lvl="0"/>
            <a:r>
              <a:rPr lang="en-US" sz="1400" b="1" dirty="0"/>
              <a:t>O5</a:t>
            </a:r>
            <a:r>
              <a:rPr lang="en-US" sz="1400" b="0" dirty="0"/>
              <a:t> — Give developers a dashboard, a TypeScript SDK and a CLI, plus reports and alerts.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Scope</a:t>
            </a:r>
          </a:p>
          <a:p>
            <a:pPr lvl="0"/>
            <a:r>
              <a:rPr lang="en-US" sz="1400" b="1" dirty="0"/>
              <a:t>In scope</a:t>
            </a:r>
            <a:r>
              <a:rPr lang="en-US" sz="1400" b="0" dirty="0"/>
              <a:t> — web dashboard, REST API, SDK and CLI, PostgreSQL with row-level security, key pools and rotation policy, multi-cloud push, webhook/email alerts, CSV and PDF reports.</a:t>
            </a:r>
          </a:p>
          <a:p>
            <a:pPr lvl="0"/>
            <a:r>
              <a:rPr lang="en-US" sz="1400" b="1" dirty="0"/>
              <a:t>Out of scope</a:t>
            </a:r>
            <a:r>
              <a:rPr lang="en-US" sz="1400" b="0" dirty="0"/>
              <a:t> — enterprise-scale HA deployment, compliance certification (SOC 2 / ISO 27001), and a trained ML model: risk uses a rule-based scorer with an LLM explanation.</a:t>
            </a:r>
          </a:p>
          <a:p>
            <a:pPr lvl="0"/>
            <a:r>
              <a:rPr lang="en-US" sz="1400" b="1" dirty="0"/>
              <a:t>Assumptions</a:t>
            </a:r>
            <a:r>
              <a:rPr lang="en-US" sz="1400" b="0" dirty="0"/>
              <a:t> — academic use, free-tier cloud accounts, connectivity for provider and AI calls.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Existing System /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Existing approaches</a:t>
            </a:r>
          </a:p>
          <a:p>
            <a:pPr lvl="0"/>
            <a:r>
              <a:rPr lang="en-US" sz="1400" b="1" dirty="0"/>
              <a:t>HashiCorp Vault</a:t>
            </a:r>
            <a:r>
              <a:rPr lang="en-US" sz="1400" b="0" dirty="0"/>
              <a:t> — strong storage, dynamic secrets and leases; self-hosted operational overhead and per-engine rotation configuration.</a:t>
            </a:r>
          </a:p>
          <a:p>
            <a:pPr lvl="0"/>
            <a:r>
              <a:rPr lang="en-US" sz="1400" b="1" dirty="0"/>
              <a:t>AWS Secrets Manager / Azure Key Vault / GCP Secret Manager</a:t>
            </a:r>
            <a:r>
              <a:rPr lang="en-US" sz="1400" b="0" dirty="0"/>
              <a:t> — managed and reliable, but rotation is wired per provider and each is single-cloud.</a:t>
            </a:r>
          </a:p>
          <a:p>
            <a:pPr lvl="0"/>
            <a:r>
              <a:rPr lang="en-US" sz="1288" b="1" dirty="0">
                <a:latin typeface="Consolas"/>
                <a:cs typeface="Consolas"/>
              </a:rPr>
              <a:t>.env</a:t>
            </a:r>
            <a:r>
              <a:rPr lang="en-US" sz="1400" b="1" dirty="0"/>
              <a:t> files and CI/CD variables</a:t>
            </a:r>
            <a:r>
              <a:rPr lang="en-US" sz="1400" b="0" dirty="0"/>
              <a:t> — the common default in small teams: no encryption at rest, no audit trail, no rotation.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Limitations identified</a:t>
            </a:r>
          </a:p>
          <a:p>
            <a:pPr lvl="0"/>
            <a:r>
              <a:rPr lang="en-US" sz="1400" b="0" dirty="0"/>
              <a:t>No cross-cloud single pane — multi-cloud teams run three consoles and three SDKs (vendor lock-in).</a:t>
            </a:r>
          </a:p>
          <a:p>
            <a:pPr lvl="0"/>
            <a:r>
              <a:rPr lang="en-US" sz="1400" b="0" dirty="0"/>
              <a:t>No built-in per-secret risk assessment; usage signals live in separate logging or SIEM tooling.</a:t>
            </a:r>
          </a:p>
          <a:p>
            <a:pPr lvl="0"/>
            <a:r>
              <a:rPr lang="en-US" sz="1400" b="0" dirty="0"/>
              <a:t>Rotation is manual or hand-written, and a newly generated value breaks every consumer of the old one.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How this project differs</a:t>
            </a:r>
          </a:p>
          <a:p>
            <a:pPr lvl="0"/>
            <a:r>
              <a:rPr lang="en-US" sz="1400" b="0" dirty="0"/>
              <a:t>One pane over three clouds, an explainable risk score derived from the system's own access logs, and rotation between pre-provisioned valid keys so consumers never break.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4620000"/>
            <a:ext cx="8492490" cy="1700000"/>
          </a:xfrm>
        </p:spPr>
        <p:txBody>
          <a:bodyPr>
            <a:normAutofit/>
          </a:bodyPr>
          <a:lstStyle/>
          <a:p>
            <a:pPr lvl="0"/>
            <a:r>
              <a:rPr lang="en-US" sz="1400" b="1" dirty="0"/>
              <a:t>Modules</a:t>
            </a:r>
            <a:r>
              <a:rPr lang="en-US" sz="1400" b="0" dirty="0"/>
              <a:t> — authentication and RBAC, secret management, risk analysis, key-pool rotation, cloud sync, logging / reporting / notifications.</a:t>
            </a:r>
          </a:p>
          <a:p>
            <a:pPr lvl="0"/>
            <a:r>
              <a:rPr lang="en-US" sz="1400" b="1" dirty="0"/>
              <a:t>Flow</a:t>
            </a:r>
            <a:r>
              <a:rPr lang="en-US" sz="1400" b="0" dirty="0"/>
              <a:t> — store secret → encrypted server-side → fetched via dashboard, SDK or CLI → access log written → rule-based score plus AI explanation.</a:t>
            </a:r>
          </a:p>
          <a:p>
            <a:pPr lvl="0"/>
            <a:r>
              <a:rPr lang="en-US" sz="1400" b="1" dirty="0"/>
              <a:t>Rotation</a:t>
            </a:r>
            <a:r>
              <a:rPr lang="en-US" sz="1400" b="0" dirty="0"/>
              <a:t> — score ≥ threshold or schedule due → pool switches to the least-used active key → webhook/email notification and audit entry.</a:t>
            </a:r>
          </a:p>
        </p:txBody>
      </p:sp>
      <p:sp>
        <p:nvSpPr>
          <p:cNvPr id="100" name="Arch 100"/>
          <p:cNvSpPr/>
          <p:nvPr/>
        </p:nvSpPr>
        <p:spPr>
          <a:xfrm>
            <a:off x="500000" y="1860000"/>
            <a:ext cx="2450000" cy="520000"/>
          </a:xfrm>
          <a:prstGeom prst="roundRect">
            <a:avLst/>
          </a:prstGeom>
          <a:solidFill>
            <a:srgbClr val="F3E9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41033"/>
                </a:solidFill>
              </a:rPr>
              <a:t>Dashboard UI</a:t>
            </a:r>
          </a:p>
          <a:p>
            <a:pPr algn="ctr">
              <a:buNone/>
            </a:pPr>
            <a:r>
              <a:rPr lang="en-US" sz="900" b="0" dirty="0">
                <a:solidFill>
                  <a:srgbClr val="241033"/>
                </a:solidFill>
              </a:rPr>
              <a:t>React 19 · Tailwind 4</a:t>
            </a:r>
          </a:p>
        </p:txBody>
      </p:sp>
      <p:sp>
        <p:nvSpPr>
          <p:cNvPr id="101" name="Arch 101"/>
          <p:cNvSpPr/>
          <p:nvPr/>
        </p:nvSpPr>
        <p:spPr>
          <a:xfrm>
            <a:off x="3350000" y="1860000"/>
            <a:ext cx="2450000" cy="520000"/>
          </a:xfrm>
          <a:prstGeom prst="roundRect">
            <a:avLst/>
          </a:prstGeom>
          <a:solidFill>
            <a:srgbClr val="F3E9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41033"/>
                </a:solidFill>
              </a:rPr>
              <a:t>smartcloud-sdk</a:t>
            </a:r>
          </a:p>
          <a:p>
            <a:pPr algn="ctr">
              <a:buNone/>
            </a:pPr>
            <a:r>
              <a:rPr lang="en-US" sz="900" b="0" dirty="0">
                <a:solidFill>
                  <a:srgbClr val="241033"/>
                </a:solidFill>
              </a:rPr>
              <a:t>TypeScript, zero-dependency</a:t>
            </a:r>
          </a:p>
        </p:txBody>
      </p:sp>
      <p:sp>
        <p:nvSpPr>
          <p:cNvPr id="102" name="Arch 102"/>
          <p:cNvSpPr/>
          <p:nvPr/>
        </p:nvSpPr>
        <p:spPr>
          <a:xfrm>
            <a:off x="6200000" y="1860000"/>
            <a:ext cx="2450000" cy="520000"/>
          </a:xfrm>
          <a:prstGeom prst="roundRect">
            <a:avLst/>
          </a:prstGeom>
          <a:solidFill>
            <a:srgbClr val="F3E9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41033"/>
                </a:solidFill>
              </a:rPr>
              <a:t>smartcloud-cli</a:t>
            </a:r>
          </a:p>
          <a:p>
            <a:pPr algn="ctr">
              <a:buNone/>
            </a:pPr>
            <a:r>
              <a:rPr lang="en-US" sz="900" b="0" dirty="0">
                <a:solidFill>
                  <a:srgbClr val="241033"/>
                </a:solidFill>
              </a:rPr>
              <a:t>env inject · run wrapper</a:t>
            </a:r>
          </a:p>
        </p:txBody>
      </p:sp>
      <p:sp>
        <p:nvSpPr>
          <p:cNvPr id="103" name="Arrow 103"/>
          <p:cNvSpPr/>
          <p:nvPr/>
        </p:nvSpPr>
        <p:spPr>
          <a:xfrm>
            <a:off x="4485000" y="2400000"/>
            <a:ext cx="180000" cy="200000"/>
          </a:xfrm>
          <a:prstGeom prst="downArrow">
            <a:avLst/>
          </a:prstGeom>
          <a:solidFill>
            <a:srgbClr val="9700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Arch 104"/>
          <p:cNvSpPr/>
          <p:nvPr/>
        </p:nvSpPr>
        <p:spPr>
          <a:xfrm>
            <a:off x="500000" y="2620000"/>
            <a:ext cx="8150000" cy="420000"/>
          </a:xfrm>
          <a:prstGeom prst="roundRect">
            <a:avLst/>
          </a:prstGeom>
          <a:solidFill>
            <a:srgbClr val="9700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Next.js 16 App Router — 33 API routes  ·  auth: cookie | JWT | API key</a:t>
            </a:r>
          </a:p>
        </p:txBody>
      </p:sp>
      <p:sp>
        <p:nvSpPr>
          <p:cNvPr id="105" name="Arch 105"/>
          <p:cNvSpPr/>
          <p:nvPr/>
        </p:nvSpPr>
        <p:spPr>
          <a:xfrm>
            <a:off x="500000" y="3060000"/>
            <a:ext cx="1486000" cy="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41033"/>
                </a:solidFill>
              </a:rPr>
              <a:t>Auth &amp; RBAC</a:t>
            </a:r>
          </a:p>
          <a:p>
            <a:pPr algn="ctr">
              <a:buNone/>
            </a:pPr>
            <a:r>
              <a:rPr lang="en-US" sz="800" b="0" dirty="0">
                <a:solidFill>
                  <a:srgbClr val="241033"/>
                </a:solidFill>
              </a:rPr>
              <a:t>owner · admin · viewer</a:t>
            </a:r>
          </a:p>
        </p:txBody>
      </p:sp>
      <p:sp>
        <p:nvSpPr>
          <p:cNvPr id="106" name="Arch 106"/>
          <p:cNvSpPr/>
          <p:nvPr/>
        </p:nvSpPr>
        <p:spPr>
          <a:xfrm>
            <a:off x="2166000" y="3060000"/>
            <a:ext cx="1486000" cy="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41033"/>
                </a:solidFill>
              </a:rPr>
              <a:t>Encryption</a:t>
            </a:r>
          </a:p>
          <a:p>
            <a:pPr algn="ctr">
              <a:buNone/>
            </a:pPr>
            <a:r>
              <a:rPr lang="en-US" sz="800" b="0" dirty="0">
                <a:solidFill>
                  <a:srgbClr val="241033"/>
                </a:solidFill>
              </a:rPr>
              <a:t>AES-256-GCM</a:t>
            </a:r>
          </a:p>
        </p:txBody>
      </p:sp>
      <p:sp>
        <p:nvSpPr>
          <p:cNvPr id="107" name="Arch 107"/>
          <p:cNvSpPr/>
          <p:nvPr/>
        </p:nvSpPr>
        <p:spPr>
          <a:xfrm>
            <a:off x="3832000" y="3060000"/>
            <a:ext cx="1486000" cy="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41033"/>
                </a:solidFill>
              </a:rPr>
              <a:t>Risk Scorer</a:t>
            </a:r>
          </a:p>
          <a:p>
            <a:pPr algn="ctr">
              <a:buNone/>
            </a:pPr>
            <a:r>
              <a:rPr lang="en-US" sz="800" b="0" dirty="0">
                <a:solidFill>
                  <a:srgbClr val="241033"/>
                </a:solidFill>
              </a:rPr>
              <a:t>frequency · hours · IP</a:t>
            </a:r>
          </a:p>
        </p:txBody>
      </p:sp>
      <p:sp>
        <p:nvSpPr>
          <p:cNvPr id="108" name="Arch 108"/>
          <p:cNvSpPr/>
          <p:nvPr/>
        </p:nvSpPr>
        <p:spPr>
          <a:xfrm>
            <a:off x="5498000" y="3060000"/>
            <a:ext cx="1486000" cy="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41033"/>
                </a:solidFill>
              </a:rPr>
              <a:t>Key Pools</a:t>
            </a:r>
          </a:p>
          <a:p>
            <a:pPr algn="ctr">
              <a:buNone/>
            </a:pPr>
            <a:r>
              <a:rPr lang="en-US" sz="800" b="0" dirty="0">
                <a:solidFill>
                  <a:srgbClr val="241033"/>
                </a:solidFill>
              </a:rPr>
              <a:t>manual · cron · risk</a:t>
            </a:r>
          </a:p>
        </p:txBody>
      </p:sp>
      <p:sp>
        <p:nvSpPr>
          <p:cNvPr id="109" name="Arch 109"/>
          <p:cNvSpPr/>
          <p:nvPr/>
        </p:nvSpPr>
        <p:spPr>
          <a:xfrm>
            <a:off x="7164000" y="3060000"/>
            <a:ext cx="1486000" cy="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241033"/>
                </a:solidFill>
              </a:rPr>
              <a:t>Notify &amp; Reports</a:t>
            </a:r>
          </a:p>
          <a:p>
            <a:pPr algn="ctr">
              <a:buNone/>
            </a:pPr>
            <a:r>
              <a:rPr lang="en-US" sz="800" b="0" dirty="0">
                <a:solidFill>
                  <a:srgbClr val="241033"/>
                </a:solidFill>
              </a:rPr>
              <a:t>webhook · email · CSV</a:t>
            </a:r>
          </a:p>
        </p:txBody>
      </p:sp>
      <p:sp>
        <p:nvSpPr>
          <p:cNvPr id="110" name="Arrow 110"/>
          <p:cNvSpPr/>
          <p:nvPr/>
        </p:nvSpPr>
        <p:spPr>
          <a:xfrm>
            <a:off x="4485000" y="3700000"/>
            <a:ext cx="180000" cy="200000"/>
          </a:xfrm>
          <a:prstGeom prst="downArrow">
            <a:avLst/>
          </a:prstGeom>
          <a:solidFill>
            <a:srgbClr val="9700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Arch 111"/>
          <p:cNvSpPr/>
          <p:nvPr/>
        </p:nvSpPr>
        <p:spPr>
          <a:xfrm>
            <a:off x="500000" y="3940000"/>
            <a:ext cx="2450000" cy="560000"/>
          </a:xfrm>
          <a:prstGeom prst="roundRect">
            <a:avLst/>
          </a:prstGeom>
          <a:solidFill>
            <a:srgbClr val="F3E9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41033"/>
                </a:solidFill>
              </a:rPr>
              <a:t>Supabase PostgreSQL</a:t>
            </a:r>
          </a:p>
          <a:p>
            <a:pPr algn="ctr">
              <a:buNone/>
            </a:pPr>
            <a:r>
              <a:rPr lang="en-US" sz="900" b="0" dirty="0">
                <a:solidFill>
                  <a:srgbClr val="241033"/>
                </a:solidFill>
              </a:rPr>
              <a:t>RLS · audit + access logs</a:t>
            </a:r>
          </a:p>
        </p:txBody>
      </p:sp>
      <p:sp>
        <p:nvSpPr>
          <p:cNvPr id="112" name="Arch 112"/>
          <p:cNvSpPr/>
          <p:nvPr/>
        </p:nvSpPr>
        <p:spPr>
          <a:xfrm>
            <a:off x="3350000" y="3940000"/>
            <a:ext cx="2450000" cy="560000"/>
          </a:xfrm>
          <a:prstGeom prst="roundRect">
            <a:avLst/>
          </a:prstGeom>
          <a:solidFill>
            <a:srgbClr val="F3E9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41033"/>
                </a:solidFill>
              </a:rPr>
              <a:t>LiteLLM proxy</a:t>
            </a:r>
          </a:p>
          <a:p>
            <a:pPr algn="ctr">
              <a:buNone/>
            </a:pPr>
            <a:r>
              <a:rPr lang="en-US" sz="900" b="0" dirty="0">
                <a:solidFill>
                  <a:srgbClr val="241033"/>
                </a:solidFill>
              </a:rPr>
              <a:t>Google Gemini — explanations</a:t>
            </a:r>
          </a:p>
        </p:txBody>
      </p:sp>
      <p:sp>
        <p:nvSpPr>
          <p:cNvPr id="113" name="Arch 113"/>
          <p:cNvSpPr/>
          <p:nvPr/>
        </p:nvSpPr>
        <p:spPr>
          <a:xfrm>
            <a:off x="6200000" y="3940000"/>
            <a:ext cx="2450000" cy="560000"/>
          </a:xfrm>
          <a:prstGeom prst="roundRect">
            <a:avLst/>
          </a:prstGeom>
          <a:solidFill>
            <a:srgbClr val="F3E9FF"/>
          </a:solidFill>
          <a:ln w="12700">
            <a:solidFill>
              <a:srgbClr val="9700FF"/>
            </a:solidFill>
          </a:ln>
        </p:spPr>
        <p:txBody>
          <a:bodyPr rtlCol="0" anchor="ctr" lIns="45720" rIns="45720" tIns="27432" bIns="27432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41033"/>
                </a:solidFill>
              </a:rPr>
              <a:t>Cloud adapters</a:t>
            </a:r>
          </a:p>
          <a:p>
            <a:pPr algn="ctr">
              <a:buNone/>
            </a:pPr>
            <a:r>
              <a:rPr lang="en-US" sz="900" b="0" dirty="0">
                <a:solidFill>
                  <a:srgbClr val="241033"/>
                </a:solidFill>
              </a:rPr>
              <a:t>AWS · Azure · GCP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400" b="1" dirty="0"/>
              <a:t>Language</a:t>
            </a:r>
            <a:r>
              <a:rPr lang="en-US" sz="1400" b="0" dirty="0"/>
              <a:t> — TypeScript (Node.js 18+) across app, SDK and CLI; SQL for schema, RLS policies and functions.</a:t>
            </a:r>
          </a:p>
          <a:p>
            <a:pPr lvl="0"/>
            <a:r>
              <a:rPr lang="en-US" sz="1400" b="1" dirty="0"/>
              <a:t>Frameworks &amp; UI</a:t>
            </a:r>
            <a:r>
              <a:rPr lang="en-US" sz="1400" b="0" dirty="0"/>
              <a:t> — Next.js 16 App Router (dashboard and API in one deployment), React 19, Tailwind CSS 4, Radix UI.</a:t>
            </a:r>
          </a:p>
          <a:p>
            <a:pPr lvl="0"/>
            <a:r>
              <a:rPr lang="en-US" sz="1400" b="1" dirty="0"/>
              <a:t>Database &amp; Auth</a:t>
            </a:r>
            <a:r>
              <a:rPr lang="en-US" sz="1400" b="0" dirty="0"/>
              <a:t> — Supabase PostgreSQL: 9 migrations, row-level security on every table; Supabase Auth with email/password and GitHub OAuth.</a:t>
            </a:r>
          </a:p>
          <a:p>
            <a:pPr lvl="0"/>
            <a:r>
              <a:rPr lang="en-US" sz="1400" b="1" dirty="0"/>
              <a:t>Encryption &amp; Security</a:t>
            </a:r>
            <a:r>
              <a:rPr lang="en-US" sz="1400" b="0" dirty="0"/>
              <a:t> — Node.js </a:t>
            </a:r>
            <a:r>
              <a:rPr lang="en-US" sz="1288" b="0" dirty="0">
                <a:latin typeface="Consolas"/>
                <a:cs typeface="Consolas"/>
              </a:rPr>
              <a:t>crypto</a:t>
            </a:r>
            <a:r>
              <a:rPr lang="en-US" sz="1400" b="0" dirty="0"/>
              <a:t> AES-256-GCM, SHA-256 hashed API keys, HMAC-signed webhooks, HTTPS.</a:t>
            </a:r>
          </a:p>
          <a:p>
            <a:pPr lvl="0"/>
            <a:r>
              <a:rPr lang="en-US" sz="1400" b="1" dirty="0"/>
              <a:t>AI</a:t>
            </a:r>
            <a:r>
              <a:rPr lang="en-US" sz="1400" b="0" dirty="0"/>
              <a:t> — Google Gemini behind a LiteLLM proxy, with rate limiting, bounded tokens and a TTL cache.</a:t>
            </a:r>
          </a:p>
          <a:p>
            <a:pPr lvl="0"/>
            <a:r>
              <a:rPr lang="en-US" sz="1400" b="1" dirty="0"/>
              <a:t>Cloud SDKs</a:t>
            </a:r>
            <a:r>
              <a:rPr lang="en-US" sz="1400" b="0" dirty="0"/>
              <a:t> — AWS Secrets Manager, Azure Key Vault and GCP Secret Manager, behind one adapter interface.</a:t>
            </a:r>
          </a:p>
          <a:p>
            <a:pPr lvl="0"/>
            <a:r>
              <a:rPr lang="en-US" sz="1400" b="1" dirty="0"/>
              <a:t>Testing</a:t>
            </a:r>
            <a:r>
              <a:rPr lang="en-US" sz="1400" b="0" dirty="0"/>
              <a:t> — Vitest for unit and integration tests, Playwright for end-to-end, ESLint.</a:t>
            </a:r>
          </a:p>
          <a:p>
            <a:pPr lvl="0"/>
            <a:r>
              <a:rPr lang="en-US" sz="1400" b="1" dirty="0"/>
              <a:t>Deployment</a:t>
            </a:r>
            <a:r>
              <a:rPr lang="en-US" sz="1400" b="0" dirty="0"/>
              <a:t> — Docker Compose on Dokploy; Vercel Cron drives scheduled rotation.</a:t>
            </a:r>
          </a:p>
          <a:p>
            <a:pPr lvl="0"/>
            <a:r>
              <a:rPr lang="en-US" sz="1400" b="1" dirty="0"/>
              <a:t>Distribution</a:t>
            </a:r>
            <a:r>
              <a:rPr lang="en-US" sz="1400" b="0" dirty="0"/>
              <a:t> — </a:t>
            </a:r>
            <a:r>
              <a:rPr lang="en-US" sz="1288" b="0" dirty="0">
                <a:latin typeface="Consolas"/>
                <a:cs typeface="Consolas"/>
              </a:rPr>
              <a:t>smartcloud-sdk</a:t>
            </a:r>
            <a:r>
              <a:rPr lang="en-US" sz="1400" b="0" dirty="0"/>
              <a:t> and </a:t>
            </a:r>
            <a:r>
              <a:rPr lang="en-US" sz="1288" b="0" dirty="0">
                <a:latin typeface="Consolas"/>
                <a:cs typeface="Consolas"/>
              </a:rPr>
              <a:t>smartcloud-cli</a:t>
            </a:r>
            <a:r>
              <a:rPr lang="en-US" sz="1400" b="0" dirty="0"/>
              <a:t> packages.</a:t>
            </a:r>
          </a:p>
          <a:p>
            <a:pPr lvl="0"/>
            <a:r>
              <a:rPr lang="en-US" sz="1400" b="1" dirty="0"/>
              <a:t>Collaboration</a:t>
            </a:r>
            <a:r>
              <a:rPr lang="en-US" sz="1400" b="0" dirty="0"/>
              <a:t> — GitHub for version control and issues, Notion for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Implementation /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Live demo flow</a:t>
            </a:r>
          </a:p>
          <a:p>
            <a:pPr marL="285750" indent="-285750">
              <a:buFont typeface="+mn-lt"/>
              <a:buAutoNum type="arabicPeriod"/>
            </a:pPr>
            <a:r>
              <a:rPr lang="en-US" sz="1400" b="1" dirty="0"/>
              <a:t>Sign in</a:t>
            </a:r>
            <a:r>
              <a:rPr lang="en-US" sz="1400" b="0" dirty="0"/>
              <a:t> — email/password or GitHub OAuth.</a:t>
            </a:r>
          </a:p>
          <a:p>
            <a:pPr marL="285750" indent="-285750">
              <a:buFont typeface="+mn-lt"/>
              <a:buAutoNum type="arabicPeriod"/>
            </a:pPr>
            <a:r>
              <a:rPr lang="en-US" sz="1400" b="1" dirty="0"/>
              <a:t>Create a project, add a secret</a:t>
            </a:r>
            <a:r>
              <a:rPr lang="en-US" sz="1400" b="0" dirty="0"/>
              <a:t> — encrypted server-side; the database holds only ciphertext, IV and auth tag.</a:t>
            </a:r>
          </a:p>
          <a:p>
            <a:pPr marL="285750" indent="-285750">
              <a:buFont typeface="+mn-lt"/>
              <a:buAutoNum type="arabicPeriod"/>
            </a:pPr>
            <a:r>
              <a:rPr lang="en-US" sz="1400" b="1" dirty="0"/>
              <a:t>Consume it</a:t>
            </a:r>
            <a:r>
              <a:rPr lang="en-US" sz="1400" b="0" dirty="0"/>
              <a:t> — </a:t>
            </a:r>
            <a:r>
              <a:rPr lang="en-US" sz="1288" b="0" dirty="0">
                <a:latin typeface="Consolas"/>
                <a:cs typeface="Consolas"/>
              </a:rPr>
              <a:t>smartcloud run -p &lt;id&gt; -- node server.js</a:t>
            </a:r>
            <a:r>
              <a:rPr lang="en-US" sz="1400" b="0" dirty="0"/>
              <a:t> injects secrets as env vars; each fetch writes an access log.</a:t>
            </a:r>
          </a:p>
          <a:p>
            <a:pPr marL="285750" indent="-285750">
              <a:buFont typeface="+mn-lt"/>
              <a:buAutoNum type="arabicPeriod"/>
            </a:pPr>
            <a:r>
              <a:rPr lang="en-US" sz="1400" b="1" dirty="0"/>
              <a:t>Risk analysis</a:t>
            </a:r>
            <a:r>
              <a:rPr lang="en-US" sz="1400" b="0" dirty="0"/>
              <a:t> — recompute the score; the badge turns Low / Medium / High with a per-rule breakdown and an AI explanation.</a:t>
            </a:r>
          </a:p>
          <a:p>
            <a:pPr marL="285750" indent="-285750">
              <a:buFont typeface="+mn-lt"/>
              <a:buAutoNum type="arabicPeriod"/>
            </a:pPr>
            <a:r>
              <a:rPr lang="en-US" sz="1400" b="1" dirty="0"/>
              <a:t>Key pools</a:t>
            </a:r>
            <a:r>
              <a:rPr lang="en-US" sz="1400" b="0" dirty="0"/>
              <a:t> — add two live keys and hit </a:t>
            </a:r>
            <a:r>
              <a:rPr lang="en-US" sz="1400" b="1" dirty="0"/>
              <a:t>Rotate now</a:t>
            </a:r>
            <a:r>
              <a:rPr lang="en-US" sz="1400" b="0" dirty="0"/>
              <a:t>: the pool switches to the least-used key and both stay valid.</a:t>
            </a:r>
          </a:p>
          <a:p>
            <a:pPr marL="285750" indent="-285750">
              <a:buFont typeface="+mn-lt"/>
              <a:buAutoNum type="arabicPeriod"/>
            </a:pPr>
            <a:r>
              <a:rPr lang="en-US" sz="1400" b="1" dirty="0"/>
              <a:t>Multi-cloud sync</a:t>
            </a:r>
            <a:r>
              <a:rPr lang="en-US" sz="1400" b="0" dirty="0"/>
              <a:t> — connect AWS and push the secret to Secrets Manager; the sync is audit-logged.</a:t>
            </a:r>
          </a:p>
          <a:p>
            <a:pPr marL="285750" indent="-285750">
              <a:buFont typeface="+mn-lt"/>
              <a:buAutoNum type="arabicPeriod"/>
            </a:pPr>
            <a:r>
              <a:rPr lang="en-US" sz="1400" b="1" dirty="0"/>
              <a:t>Team &amp; RBAC</a:t>
            </a:r>
            <a:r>
              <a:rPr lang="en-US" sz="1400" b="0" dirty="0"/>
              <a:t> — invite a member as viewer; row-level security blocks the write.</a:t>
            </a:r>
          </a:p>
          <a:p>
            <a:pPr marL="285750" indent="-285750">
              <a:buFont typeface="+mn-lt"/>
              <a:buAutoNum type="arabicPeriod"/>
            </a:pPr>
            <a:r>
              <a:rPr lang="en-US" sz="1400" b="1" dirty="0"/>
              <a:t>Reports &amp; alerts</a:t>
            </a:r>
            <a:r>
              <a:rPr lang="en-US" sz="1400" b="0" dirty="0"/>
              <a:t> — export the CSV / PDF security report, review the access timeline, and show the rotation webhook fire.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Delivered</a:t>
            </a:r>
          </a:p>
          <a:p>
            <a:pPr lvl="0"/>
            <a:r>
              <a:rPr lang="en-US" sz="1400" b="0" dirty="0"/>
              <a:t>Working platform tagged </a:t>
            </a:r>
            <a:r>
              <a:rPr lang="en-US" sz="1400" b="1" dirty="0"/>
              <a:t>v0.9.0</a:t>
            </a:r>
            <a:r>
              <a:rPr lang="en-US" sz="1400" b="0" dirty="0"/>
              <a:t> — 33 API endpoints, 9 database migrations, ~12,400 lines of TypeScript.</a:t>
            </a:r>
          </a:p>
          <a:p>
            <a:pPr lvl="0"/>
            <a:r>
              <a:rPr lang="en-US" sz="1400" b="0" dirty="0"/>
              <a:t>All W1–W10 planned tasks complete; the open items are the npm publish and production DNS cut-over.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Verification</a:t>
            </a:r>
          </a:p>
          <a:p>
            <a:pPr lvl="0"/>
            <a:r>
              <a:rPr lang="en-US" sz="1400" b="1" dirty="0"/>
              <a:t>79 automated tests pass</a:t>
            </a:r>
            <a:r>
              <a:rPr lang="en-US" sz="1400" b="0" dirty="0"/>
              <a:t> across 9 files — encryption, risk scoring, key-pool selection, AI guardrails, auth, secrets CRUD/fetch and rotation.</a:t>
            </a:r>
          </a:p>
          <a:p>
            <a:pPr lvl="0"/>
            <a:r>
              <a:rPr lang="en-US" sz="1400" b="0" dirty="0"/>
              <a:t>5 Playwright end-to-end smoke tests cover the unauthenticated golden paths.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Against the Phase-2 requirements</a:t>
            </a:r>
          </a:p>
          <a:p>
            <a:pPr lvl="0"/>
            <a:r>
              <a:rPr lang="en-US" sz="1400" b="0" dirty="0"/>
              <a:t>All ten functional requirements (FR1–FR10) implemented; security NFRs met via AES-256-GCM, RBAC with RLS and audit logging.</a:t>
            </a:r>
          </a:p>
          <a:p>
            <a:pPr lvl="0"/>
            <a:r>
              <a:rPr lang="en-US" sz="1400" b="0" dirty="0"/>
              <a:t>Retrieval under 2 s and scoring under 5 s: the scorer is pure and in-process; AI explanations are cached for an hour.</a:t>
            </a:r>
          </a:p>
          <a:p>
            <a:pPr lvl="0"/>
            <a:r>
              <a:rPr lang="en-US" sz="1400" b="0" dirty="0"/>
              <a:t>Versus Vault / AWS / Azure / GCP — one pane over three clouds, an explainable per-secret risk score, and non-breaking risk-driven rotation.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Challenges and how they were solved</a:t>
            </a:r>
          </a:p>
          <a:p>
            <a:pPr lvl="0"/>
            <a:r>
              <a:rPr lang="en-US" sz="1400" b="1" dirty="0"/>
              <a:t>Rotation broke consumers</a:t>
            </a:r>
            <a:r>
              <a:rPr lang="en-US" sz="1400" b="0" dirty="0"/>
              <a:t> — redesigned around key pools of interchangeable live keys, so rotation only changes which key is served.</a:t>
            </a:r>
          </a:p>
          <a:p>
            <a:pPr lvl="0"/>
            <a:r>
              <a:rPr lang="en-US" sz="1400" b="1" dirty="0"/>
              <a:t>Risk rotation looped</a:t>
            </a:r>
            <a:r>
              <a:rPr lang="en-US" sz="1400" b="0" dirty="0"/>
              <a:t> — the score stays high just after rotating, so a 6-hour cooldown was added.</a:t>
            </a:r>
          </a:p>
          <a:p>
            <a:pPr lvl="0"/>
            <a:r>
              <a:rPr lang="en-US" sz="1400" b="1" dirty="0"/>
              <a:t>RLS recursion risk</a:t>
            </a:r>
            <a:r>
              <a:rPr lang="en-US" sz="1400" b="0" dirty="0"/>
              <a:t> — </a:t>
            </a:r>
            <a:r>
              <a:rPr lang="en-US" sz="1288" b="0" dirty="0">
                <a:latin typeface="Consolas"/>
                <a:cs typeface="Consolas"/>
              </a:rPr>
              <a:t>current_project_role()</a:t>
            </a:r>
            <a:r>
              <a:rPr lang="en-US" sz="1400" b="0" dirty="0"/>
              <a:t> was SQL-inlinable; rewritten as plpgsql with a pinned </a:t>
            </a:r>
            <a:r>
              <a:rPr lang="en-US" sz="1288" b="0" dirty="0">
                <a:latin typeface="Consolas"/>
                <a:cs typeface="Consolas"/>
              </a:rPr>
              <a:t>search_path</a:t>
            </a:r>
            <a:r>
              <a:rPr lang="en-US" sz="1400" b="0" dirty="0"/>
              <a:t>.</a:t>
            </a:r>
          </a:p>
          <a:p>
            <a:pPr lvl="0"/>
            <a:r>
              <a:rPr lang="en-US" sz="1400" b="1" dirty="0"/>
              <a:t>Service-role writes bypass RLS</a:t>
            </a:r>
            <a:r>
              <a:rPr lang="en-US" sz="1400" b="0" dirty="0"/>
              <a:t> — added a deterministic app-side role check in </a:t>
            </a:r>
            <a:r>
              <a:rPr lang="en-US" sz="1288" b="0" dirty="0">
                <a:latin typeface="Consolas"/>
                <a:cs typeface="Consolas"/>
              </a:rPr>
              <a:t>lib/access.ts</a:t>
            </a:r>
            <a:r>
              <a:rPr lang="en-US" sz="1400" b="0" dirty="0"/>
              <a:t>.</a:t>
            </a:r>
          </a:p>
          <a:p>
            <a:pPr lvl="0"/>
            <a:r>
              <a:rPr lang="en-US" sz="1400" b="1" dirty="0"/>
              <a:t>Bearer auth vs session middleware</a:t>
            </a:r>
            <a:r>
              <a:rPr lang="en-US" sz="1400" b="0" dirty="0"/>
              <a:t> — API routes bypass the middleware to prevent session poisoning.</a:t>
            </a:r>
          </a:p>
          <a:p>
            <a:pPr lvl="0"/>
            <a:r>
              <a:rPr lang="en-US" sz="1400" b="1" dirty="0"/>
              <a:t>Three cloud SDKs, three error models</a:t>
            </a:r>
            <a:r>
              <a:rPr lang="en-US" sz="1400" b="0" dirty="0"/>
              <a:t> — unified behind one </a:t>
            </a:r>
            <a:r>
              <a:rPr lang="en-US" sz="1288" b="0" dirty="0">
                <a:latin typeface="Consolas"/>
                <a:cs typeface="Consolas"/>
              </a:rPr>
              <a:t>CloudProviderAdapter</a:t>
            </a:r>
            <a:r>
              <a:rPr lang="en-US" sz="1400" b="0" dirty="0"/>
              <a:t> interface.</a:t>
            </a:r>
          </a:p>
          <a:p>
            <a:pPr lvl="0"/>
            <a:r>
              <a:rPr lang="en-US" sz="1400" b="1" dirty="0"/>
              <a:t>Design drift</a:t>
            </a:r>
            <a:r>
              <a:rPr lang="en-US" sz="1400" b="0" dirty="0"/>
              <a:t> — Phase 2 specified Express and Convex; built on Next.js and Supabase for RLS and Auth on one platform.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Current limitations</a:t>
            </a:r>
          </a:p>
          <a:p>
            <a:pPr lvl="0"/>
            <a:r>
              <a:rPr lang="en-US" sz="1400" b="0" dirty="0"/>
              <a:t>Risk scoring is rule-based with an LLM explanation, not a trained model; cloud sync is push-only.</a:t>
            </a:r>
          </a:p>
          <a:p>
            <a:pPr lvl="0"/>
            <a:r>
              <a:rPr lang="en-US" sz="1400" b="0" dirty="0"/>
              <a:t>The master key is a single environment variable (no KMS envelope encryption), and the system is not yet load-tested to 100 concurrent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Conclusion</a:t>
            </a:r>
          </a:p>
          <a:p>
            <a:pPr lvl="0"/>
            <a:r>
              <a:rPr lang="en-US" sz="1400" b="0" dirty="0"/>
              <a:t>SmartCloud Secrets Manager delivers what Phase 1 proposed: encrypted storage, explainable risk analysis, non-breaking automated rotation and multi-cloud management behind one dashboard, SDK and CLI.</a:t>
            </a:r>
          </a:p>
          <a:p>
            <a:pPr lvl="0"/>
            <a:r>
              <a:rPr lang="en-US" sz="1400" b="0" dirty="0"/>
              <a:t>All five primary objectives and the ten Phase-2 functional requirements are implemented and covered by 79 passing automated tests.</a:t>
            </a:r>
          </a:p>
          <a:p>
            <a:pPr lvl="0"/>
            <a:r>
              <a:rPr lang="en-US" sz="1400" b="0" dirty="0"/>
              <a:t>The project applied cloud security, database design, backend development, DevOps and applied AI to a working system.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700FF"/>
                </a:solidFill>
              </a:rPr>
              <a:t>Future work</a:t>
            </a:r>
          </a:p>
          <a:p>
            <a:pPr lvl="0"/>
            <a:r>
              <a:rPr lang="en-US" sz="1400" b="0" dirty="0"/>
              <a:t>Replace the rule-based scorer with an anomaly-detection model trained on accumulated access logs, keeping the rules as a baseline.</a:t>
            </a:r>
          </a:p>
          <a:p>
            <a:pPr lvl="0"/>
            <a:r>
              <a:rPr lang="en-US" sz="1400" b="0" dirty="0"/>
              <a:t>Two-way cloud sync — import existing secrets from AWS, Azure and GCP, and reconcile drift.</a:t>
            </a:r>
          </a:p>
          <a:p>
            <a:pPr lvl="0"/>
            <a:r>
              <a:rPr lang="en-US" sz="1400" b="0" dirty="0"/>
              <a:t>Envelope encryption with a cloud KMS so the master key can itself be rotated.</a:t>
            </a:r>
          </a:p>
          <a:p>
            <a:pPr lvl="0"/>
            <a:r>
              <a:rPr lang="en-US" sz="1400" b="0" dirty="0"/>
              <a:t>Publish </a:t>
            </a:r>
            <a:r>
              <a:rPr lang="en-US" sz="1288" b="0" dirty="0">
                <a:latin typeface="Consolas"/>
                <a:cs typeface="Consolas"/>
              </a:rPr>
              <a:t>smartcloud-sdk</a:t>
            </a:r>
            <a:r>
              <a:rPr lang="en-US" sz="1400" b="0" dirty="0"/>
              <a:t> and </a:t>
            </a:r>
            <a:r>
              <a:rPr lang="en-US" sz="1288" b="0" dirty="0">
                <a:latin typeface="Consolas"/>
                <a:cs typeface="Consolas"/>
              </a:rPr>
              <a:t>smartcloud-cli</a:t>
            </a:r>
            <a:r>
              <a:rPr lang="en-US" sz="1400" b="0" dirty="0"/>
              <a:t> to npm; add CI/CD plugins and a Kubernetes integration.</a:t>
            </a:r>
          </a:p>
          <a:p>
            <a:pPr lvl="0"/>
            <a:r>
              <a:rPr lang="en-US" sz="1400" b="0" dirty="0"/>
              <a:t>Complete UAT fixes to 100%, load-test to the concurrency target, and add SIEM and Slack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eet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Meeting</Template>
  <TotalTime>81</TotalTime>
  <Words>113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Arial Narrow</vt:lpstr>
      <vt:lpstr>Capstone Meeting</vt:lpstr>
      <vt:lpstr>PowerPoint Presentation</vt:lpstr>
      <vt:lpstr>Problem Statement</vt:lpstr>
      <vt:lpstr>Objectives &amp; Scope</vt:lpstr>
      <vt:lpstr>Existing System / Literature Review</vt:lpstr>
      <vt:lpstr>Proposed System Architecture</vt:lpstr>
      <vt:lpstr>Tools &amp; Technologies</vt:lpstr>
      <vt:lpstr>Implementation / Demo</vt:lpstr>
      <vt:lpstr>Results &amp; Analysis</vt:lpstr>
      <vt:lpstr>Challenges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Kumar</cp:lastModifiedBy>
  <cp:revision>3</cp:revision>
  <dcterms:created xsi:type="dcterms:W3CDTF">2013-01-27T09:14:16Z</dcterms:created>
  <dcterms:modified xsi:type="dcterms:W3CDTF">2026-02-10T05:45:53Z</dcterms:modified>
  <cp:category/>
</cp:coreProperties>
</file>